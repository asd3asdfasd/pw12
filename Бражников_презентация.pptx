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72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4BC52-A53C-4119-8210-A0BE66FF632F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CC82F-2DF1-4DEB-A101-ED38439FBB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35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0B49CBBD-4C5E-B88E-2904-BD0B6DB8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>
            <a:extLst>
              <a:ext uri="{FF2B5EF4-FFF2-40B4-BE49-F238E27FC236}">
                <a16:creationId xmlns:a16="http://schemas.microsoft.com/office/drawing/2014/main" id="{B2748B01-D00D-024C-E11D-76627EF58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>
            <a:extLst>
              <a:ext uri="{FF2B5EF4-FFF2-40B4-BE49-F238E27FC236}">
                <a16:creationId xmlns:a16="http://schemas.microsoft.com/office/drawing/2014/main" id="{E9498006-F42B-427C-C700-0BAB4C9F2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2490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3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6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1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1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5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50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3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7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32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492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623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7056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7591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25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393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7176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55557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0493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8570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34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86920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0032" y="470118"/>
            <a:ext cx="86319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1400" b="0">
                <a:solidFill>
                  <a:srgbClr val="FFFFFF"/>
                </a:solidFill>
                <a:latin typeface="Times New Roman"/>
              </a:defRPr>
            </a:pPr>
            <a:r>
              <a:rPr sz="1600" dirty="0">
                <a:solidFill>
                  <a:srgbClr val="FFFFFF"/>
                </a:solidFill>
                <a:latin typeface="Times New Roman"/>
              </a:rPr>
              <a:t>МИНИСТЕРСТВО НАУКИ И ВЫСШЕГО ОБРАЗОВАНИЯ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>
                <a:solidFill>
                  <a:srgbClr val="FFFFFF"/>
                </a:solidFill>
                <a:latin typeface="Times New Roman"/>
              </a:rPr>
              <a:t>РОССИЙСКОЙ ФЕДЕРАЦИИ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Федеральное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государственное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бюджетное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образовательное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учреждение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высшего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образования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>
                <a:solidFill>
                  <a:srgbClr val="FFFFFF"/>
                </a:solidFill>
                <a:latin typeface="Times New Roman"/>
              </a:rPr>
              <a:t>«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Рязанский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государственный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радиотехнический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университет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имени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В.Ф.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Уткина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400" y="2560321"/>
            <a:ext cx="73152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rPr sz="2000" b="1" dirty="0">
                <a:solidFill>
                  <a:srgbClr val="FFFFFF"/>
                </a:solidFill>
                <a:latin typeface="Times New Roman"/>
              </a:rPr>
              <a:t>ВЫПУСКНАЯ КВАЛИФИКАЦИОННАЯ РАБОТА</a:t>
            </a:r>
          </a:p>
          <a:p>
            <a:pPr algn="ctr" defTabSz="457200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rPr b="1" dirty="0" err="1">
                <a:solidFill>
                  <a:srgbClr val="FFFFFF"/>
                </a:solidFill>
                <a:latin typeface="Times New Roman"/>
              </a:rPr>
              <a:t>Бакалавриат</a:t>
            </a:r>
            <a:endParaRPr b="1" dirty="0">
              <a:solidFill>
                <a:srgbClr val="FFFFFF"/>
              </a:solidFill>
              <a:latin typeface="Times New Roman"/>
            </a:endParaRPr>
          </a:p>
          <a:p>
            <a:pPr algn="ctr" defTabSz="457200"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rPr dirty="0" err="1">
                <a:solidFill>
                  <a:srgbClr val="FFFFFF"/>
                </a:solidFill>
                <a:latin typeface="Times New Roman"/>
              </a:rPr>
              <a:t>на</a:t>
            </a:r>
            <a:r>
              <a:rPr dirty="0">
                <a:solidFill>
                  <a:srgbClr val="FFFFFF"/>
                </a:solidFill>
                <a:latin typeface="Times New Roman"/>
              </a:rPr>
              <a:t> </a:t>
            </a:r>
            <a:r>
              <a:rPr dirty="0" err="1">
                <a:solidFill>
                  <a:srgbClr val="FFFFFF"/>
                </a:solidFill>
                <a:latin typeface="Times New Roman"/>
              </a:rPr>
              <a:t>тему</a:t>
            </a:r>
            <a:endParaRPr dirty="0">
              <a:solidFill>
                <a:srgbClr val="FFFFFF"/>
              </a:solidFill>
              <a:latin typeface="Times New Roman"/>
            </a:endParaRPr>
          </a:p>
          <a:p>
            <a:pPr algn="ctr" defTabSz="457200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rPr sz="2400" b="1" dirty="0">
                <a:solidFill>
                  <a:srgbClr val="FFFFFF"/>
                </a:solidFill>
                <a:latin typeface="Times New Roman"/>
              </a:rPr>
              <a:t>«</a:t>
            </a:r>
            <a:r>
              <a:rPr sz="2400" b="1" dirty="0" err="1">
                <a:solidFill>
                  <a:srgbClr val="FFFFFF"/>
                </a:solidFill>
                <a:latin typeface="Times New Roman"/>
              </a:rPr>
              <a:t>Бизнес-план</a:t>
            </a:r>
            <a:r>
              <a:rPr sz="2400" b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imes New Roman"/>
              </a:rPr>
              <a:t>производственного</a:t>
            </a:r>
            <a:r>
              <a:rPr sz="2400" b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imes New Roman"/>
              </a:rPr>
              <a:t>предприятия</a:t>
            </a:r>
            <a:r>
              <a:rPr sz="2400" b="1" dirty="0">
                <a:solidFill>
                  <a:srgbClr val="FFFFFF"/>
                </a:solidFill>
                <a:latin typeface="Times New Roman"/>
              </a:rPr>
              <a:t>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99704" y="4316173"/>
            <a:ext cx="29077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400" b="0">
                <a:solidFill>
                  <a:srgbClr val="FFFFFF"/>
                </a:solidFill>
                <a:latin typeface="Times New Roman"/>
              </a:defRPr>
            </a:pPr>
            <a:r>
              <a:rPr sz="1600" dirty="0" err="1">
                <a:solidFill>
                  <a:srgbClr val="FFFFFF"/>
                </a:solidFill>
                <a:latin typeface="Times New Roman"/>
              </a:rPr>
              <a:t>Обучающийся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: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студент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группы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237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Бражников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И. С.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Руководитель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: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к.т.н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.,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доцент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imes New Roman"/>
              </a:rPr>
              <a:t>кафедры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АИТП</a:t>
            </a:r>
            <a:br>
              <a:rPr sz="1600" dirty="0">
                <a:solidFill>
                  <a:srgbClr val="FFFFFF"/>
                </a:solidFill>
                <a:latin typeface="Times New Roman"/>
              </a:rPr>
            </a:br>
            <a:r>
              <a:rPr sz="1600" dirty="0" err="1">
                <a:solidFill>
                  <a:srgbClr val="FFFFFF"/>
                </a:solidFill>
                <a:latin typeface="Times New Roman"/>
              </a:rPr>
              <a:t>Сосулин</a:t>
            </a:r>
            <a:r>
              <a:rPr sz="1600" dirty="0">
                <a:solidFill>
                  <a:srgbClr val="FFFFFF"/>
                </a:solidFill>
                <a:latin typeface="Times New Roman"/>
              </a:rPr>
              <a:t> Ю. А.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634255-5C42-845C-EF23-B1B32A4FF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78" y="5623272"/>
            <a:ext cx="909702" cy="1017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716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7250" y="1371600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Актуальность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Бизнес-план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ключевой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инструмент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обоснования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малого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производства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Выбран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выпуск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тротуарной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плитки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высокий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спрос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частном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секторе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госпрограммах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благоустройства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).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74954" y="3004566"/>
            <a:ext cx="5000625" cy="23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Ключевые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задачи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409700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139065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90169" y="304800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60704" y="34861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Анализ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рынка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спроса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60704" y="39624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Обоснование технологии вибропрессования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60704" y="44386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Построение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финансовой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модели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Project Expert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60704" y="4914900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Оценка инвестиционной привлекательности и устойчивости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74954" y="350520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74954" y="398145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74954" y="445770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4954" y="493395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Актуальность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и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цель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проекта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14450"/>
            <a:ext cx="11049000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Анализ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рынка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тротуарной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плитки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52600"/>
            <a:ext cx="1125169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3721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Основа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выпуска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—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универсальная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брусчатка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и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плитка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(в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сумме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60%),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обеспечивающие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стабильную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загрузку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и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высокий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спрос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на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рынке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благоустройства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773358" y="2198369"/>
            <a:ext cx="3227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Брусчатка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Кирпичик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» (35%)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773358" y="2619183"/>
            <a:ext cx="3227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Квадратная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300х300х60 (25%)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773357" y="3024187"/>
            <a:ext cx="3227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Квадратная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Стандарт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» (15%)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773356" y="3502722"/>
            <a:ext cx="3227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Шестигранник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Соты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» (10%)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773356" y="3898202"/>
            <a:ext cx="3227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Волна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Классик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» (10%)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773355" y="4348162"/>
            <a:ext cx="3227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Газонная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решетка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(5%)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435030" y="22336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435030" y="2662237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435030" y="309086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435030" y="3519487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435030" y="39481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435030" y="4376737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Ассортимент продукции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571500" y="57150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Технология вибропрессования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57250" y="24098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Формование изделий из жестких бетонных смесей под совместным воздействием вибрации и давления.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31718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Значительно более высокая производительность по сравнению с классическим вибролитьем.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57250" y="39338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Мгновенная распалубка изделий, высокая плотность и морозостойкость бетона (не ниже F200 циклов).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57250" y="4695825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Участок дозирования автоматизирован на базе ПЛК, обеспечивая высочайшую точность компонентов (до 1%).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42887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19087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395287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71487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B0BDCF-B747-913A-91AD-25CA28F6C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4" y="0"/>
            <a:ext cx="61436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995862"/>
            <a:ext cx="110490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8787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28787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28787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632049" y="5233987"/>
            <a:ext cx="196125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Линия вибропрессования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«Рифей-Кондор»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523904" y="5233987"/>
            <a:ext cx="178861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Проектная мощность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10 800 кв.м/год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238154" y="5233987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9243119" y="5233987"/>
            <a:ext cx="131668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Штат предприятия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6 человек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8957369" y="5233987"/>
            <a:ext cx="9525" cy="495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484186" y="4300537"/>
            <a:ext cx="36671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1. Бетоносмеситель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4262485" y="4300537"/>
            <a:ext cx="36671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2. Конвейер и подача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8040785" y="4300537"/>
            <a:ext cx="36671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5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3. Контроль АСУ ТП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68775" y="1749837"/>
            <a:ext cx="345444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47148" y="1766887"/>
            <a:ext cx="3454449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Оборудование и мощность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89D744-D4C0-1BAA-011E-887906296E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700" y="1892808"/>
            <a:ext cx="3282476" cy="21696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01" y="3305175"/>
            <a:ext cx="34925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2572" y="3305175"/>
            <a:ext cx="34925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3750" y="3305175"/>
            <a:ext cx="3492549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82395" y="430530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Сроки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проекта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84223" y="4757737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Старт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проекта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01.03.2026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Изначальный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горизонт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моделирования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36 </a:t>
            </a:r>
            <a:r>
              <a:rPr kumimoji="0" lang="en-US" sz="1350" b="1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месяцев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575295" y="4233862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Ставки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и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инфляция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592650" y="4529137"/>
            <a:ext cx="292104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Ставка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дисконтирования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14%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учет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риска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МСП). </a:t>
            </a:r>
            <a:r>
              <a:rPr kumimoji="0" lang="ru-RU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И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нфляция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8%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8413774" y="4224338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Налоговое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окружение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413774" y="4600575"/>
            <a:ext cx="2921049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Режим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УСН 15%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доходы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минус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расходы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).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Страховые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взносы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ФОТ: </a:t>
            </a: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30%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DD6E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5921" y="366045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5025" y="36528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67362" y="361950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Ввод данных: Макроокружение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23EB9F-B950-5380-547C-A09C85D84B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795" y="1519039"/>
            <a:ext cx="3280302" cy="14194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B09A63-38A0-8EFB-C193-3DF7A2BB01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9251" y="1276295"/>
            <a:ext cx="3147846" cy="17812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EB8541-CFB6-ADAA-3B6A-FE61DB8F6F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2608" y="1466643"/>
            <a:ext cx="2972215" cy="1524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3EDBB3-C0AD-402E-214E-2998C34BA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" y="1451662"/>
            <a:ext cx="11814048" cy="31660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653F99-C344-11C5-1AE3-488AA13AFC7A}"/>
              </a:ext>
            </a:extLst>
          </p:cNvPr>
          <p:cNvSpPr txBox="1"/>
          <p:nvPr/>
        </p:nvSpPr>
        <p:spPr>
          <a:xfrm>
            <a:off x="587633" y="665279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Календарный план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/>
        </p:nvSpPr>
        <p:spPr>
          <a:xfrm>
            <a:off x="571500" y="167163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Ввод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данных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модуль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Производство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»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основывается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рецептуре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жестких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бетонных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смесей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удельном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расходе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цемента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М500,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заполнителей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электроэнергии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22"/>
          <p:cNvGraphicFramePr/>
          <p:nvPr>
            <p:extLst>
              <p:ext uri="{D42A27DB-BD31-4B8C-83A1-F6EECF244321}">
                <p14:modId xmlns:p14="http://schemas.microsoft.com/office/powerpoint/2010/main" val="3110865155"/>
              </p:ext>
            </p:extLst>
          </p:nvPr>
        </p:nvGraphicFramePr>
        <p:xfrm>
          <a:off x="504443" y="2414396"/>
          <a:ext cx="5591557" cy="3733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4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5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Вид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выпускаемой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продукции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Толщина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мм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Расход</a:t>
                      </a:r>
                      <a:r>
                        <a:rPr lang="ru-RU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цемента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ru-RU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кг</a:t>
                      </a: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/м²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Прямые издержки, руб/м²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8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Квадратная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300x300x40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217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28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Квадратная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300x300x60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Брусчатка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«</a:t>
                      </a: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Кирпичик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» 200x100x60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Фигурная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плитка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«</a:t>
                      </a: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Волна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» 222x109.5x70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380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Газонная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решетка</a:t>
                      </a: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600x400x100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543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0" name="Google Shape;250;p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Прямые производственные издержки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E49BD8-FE38-BE51-6D96-1A6E380C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414396"/>
            <a:ext cx="5706271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/>
        </p:nvSpPr>
        <p:spPr>
          <a:xfrm>
            <a:off x="571500" y="393954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План персонала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A3838-3B73-A508-5C63-8A403A1A264E}"/>
              </a:ext>
            </a:extLst>
          </p:cNvPr>
          <p:cNvSpPr txBox="1"/>
          <p:nvPr/>
        </p:nvSpPr>
        <p:spPr>
          <a:xfrm>
            <a:off x="571500" y="947952"/>
            <a:ext cx="11109960" cy="75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Штатное расписание включает шесть человек: директора, бухгалтера, инженера-технолога, оператора линии, разнорабочего и менеджера по продажам.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515895-3540-3869-9DCE-3CBE6B578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9004"/>
            <a:ext cx="4668011" cy="29245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35947E-B1B8-7529-D4CF-0F70C00ED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49004"/>
            <a:ext cx="4829849" cy="29245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4">
          <a:extLst>
            <a:ext uri="{FF2B5EF4-FFF2-40B4-BE49-F238E27FC236}">
              <a16:creationId xmlns:a16="http://schemas.microsoft.com/office/drawing/2014/main" id="{0D581691-26A7-6701-B7AE-E9E0364D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21481-0591-AEB5-2E2B-5EDADDF6FBF2}"/>
              </a:ext>
            </a:extLst>
          </p:cNvPr>
          <p:cNvSpPr txBox="1"/>
          <p:nvPr/>
        </p:nvSpPr>
        <p:spPr>
          <a:xfrm>
            <a:off x="651510" y="483346"/>
            <a:ext cx="6094476" cy="60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Общие издержки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2B54D-6933-0FB7-29F3-735AD3E69838}"/>
              </a:ext>
            </a:extLst>
          </p:cNvPr>
          <p:cNvSpPr txBox="1"/>
          <p:nvPr/>
        </p:nvSpPr>
        <p:spPr>
          <a:xfrm>
            <a:off x="651510" y="1088768"/>
            <a:ext cx="11153394" cy="75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Так же в постоянные расходы включена аренда цеха, электроэнергия, ТО и маркетинг. Совокупные издержки составляют 575 тыс. руб./мес.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266976-ECE4-F3A9-A0E3-84B9721F8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2325236"/>
            <a:ext cx="4801270" cy="28293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3BF629-BA05-A338-C82D-59E2197A3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158" y="2325236"/>
            <a:ext cx="4772691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7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/>
        </p:nvSpPr>
        <p:spPr>
          <a:xfrm>
            <a:off x="489204" y="1159669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Цены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варьируются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от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950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до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1600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руб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/м².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Объем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реализации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наращивается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с 750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кв.м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до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2 300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кв.м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месяц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с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учетом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сезонности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План сбыта и цены реализации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5277D7-490E-E959-8F29-C0BC8293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49" y="2188394"/>
            <a:ext cx="5391902" cy="37247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571500" y="1237869"/>
            <a:ext cx="560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cs typeface="Arial"/>
                <a:sym typeface="Merriweather"/>
              </a:rPr>
              <a:t>Собсвенные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cs typeface="Arial"/>
                <a:sym typeface="Merriweather"/>
              </a:rPr>
              <a:t> </a:t>
            </a:r>
            <a:r>
              <a:rPr kumimoji="0" lang="ru-R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cs typeface="Arial"/>
                <a:sym typeface="Merriweather"/>
              </a:rPr>
              <a:t>средсва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286500" y="1237869"/>
            <a:ext cx="560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cs typeface="Arial"/>
                <a:sym typeface="Merriweather"/>
              </a:rPr>
              <a:t>Заёмные средства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286500" y="2857500"/>
            <a:ext cx="27140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476250"/>
            <a:ext cx="389991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Ф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инансирование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9C2E33-7FD8-3EDE-2218-807449D4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01" y="1619076"/>
            <a:ext cx="5250636" cy="159961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6819B3-B509-5FC5-BB18-B905C8F56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199" y="1657174"/>
            <a:ext cx="5788967" cy="1561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A87421-A60C-F207-47FC-07ACA854EC00}"/>
              </a:ext>
            </a:extLst>
          </p:cNvPr>
          <p:cNvSpPr txBox="1"/>
          <p:nvPr/>
        </p:nvSpPr>
        <p:spPr>
          <a:xfrm>
            <a:off x="709150" y="4067351"/>
            <a:ext cx="8099298" cy="466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Банковский кредит под 17% годовых с льготным периодом 12 месяцев</a:t>
            </a:r>
          </a:p>
        </p:txBody>
      </p:sp>
      <p:pic>
        <p:nvPicPr>
          <p:cNvPr id="9" name="Рисунок 8" descr="Монеты со сплошной заливкой">
            <a:extLst>
              <a:ext uri="{FF2B5EF4-FFF2-40B4-BE49-F238E27FC236}">
                <a16:creationId xmlns:a16="http://schemas.microsoft.com/office/drawing/2014/main" id="{5B914288-8913-2591-79FE-EB26A4308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650" y="3957880"/>
            <a:ext cx="914400" cy="914400"/>
          </a:xfrm>
          <a:prstGeom prst="rect">
            <a:avLst/>
          </a:prstGeom>
        </p:spPr>
      </p:pic>
      <p:sp>
        <p:nvSpPr>
          <p:cNvPr id="10" name="Google Shape;144;p17">
            <a:extLst>
              <a:ext uri="{FF2B5EF4-FFF2-40B4-BE49-F238E27FC236}">
                <a16:creationId xmlns:a16="http://schemas.microsoft.com/office/drawing/2014/main" id="{E47E7999-6A5C-181E-E658-D9D42B774457}"/>
              </a:ext>
            </a:extLst>
          </p:cNvPr>
          <p:cNvSpPr txBox="1"/>
          <p:nvPr/>
        </p:nvSpPr>
        <p:spPr>
          <a:xfrm>
            <a:off x="600184" y="418648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/>
        </p:nvSpPr>
        <p:spPr>
          <a:xfrm>
            <a:off x="571500" y="999744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Ключевой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результат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расчетов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Project Expert: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сравнение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показателей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горизонтах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планирования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36 и 60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месяцев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571500" y="5743955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Срок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окупаемости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(PB)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при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5-летнем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горизонте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500" b="1" kern="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42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месяц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а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Внутренняя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норма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доходности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(IRR): 69%.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Оценка эффективности проекта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4A1ED4-8CAD-4242-0EA6-9D0B6A8BE1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3"/>
          <a:stretch>
            <a:fillRect/>
          </a:stretch>
        </p:blipFill>
        <p:spPr>
          <a:xfrm>
            <a:off x="917400" y="2290590"/>
            <a:ext cx="4058508" cy="24482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24C552-8A2A-F92A-D70E-122ACAF4B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437" y="2204866"/>
            <a:ext cx="4077269" cy="253399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59E0AC-0558-FB7D-B65C-BE9633D21003}"/>
              </a:ext>
            </a:extLst>
          </p:cNvPr>
          <p:cNvSpPr/>
          <p:nvPr/>
        </p:nvSpPr>
        <p:spPr>
          <a:xfrm>
            <a:off x="10090404" y="3336416"/>
            <a:ext cx="210312" cy="1005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D3559C-BA88-1C22-A04A-1F5C8FD8866E}"/>
              </a:ext>
            </a:extLst>
          </p:cNvPr>
          <p:cNvSpPr/>
          <p:nvPr/>
        </p:nvSpPr>
        <p:spPr>
          <a:xfrm>
            <a:off x="10168128" y="3514724"/>
            <a:ext cx="210312" cy="10058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36A382-4D5C-9C82-4356-92273CA7F35C}"/>
              </a:ext>
            </a:extLst>
          </p:cNvPr>
          <p:cNvSpPr/>
          <p:nvPr/>
        </p:nvSpPr>
        <p:spPr>
          <a:xfrm>
            <a:off x="10168128" y="4026206"/>
            <a:ext cx="310896" cy="18003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A674F-926A-4E37-50D0-DA65E9430B9D}"/>
              </a:ext>
            </a:extLst>
          </p:cNvPr>
          <p:cNvSpPr txBox="1"/>
          <p:nvPr/>
        </p:nvSpPr>
        <p:spPr>
          <a:xfrm>
            <a:off x="10116831" y="3285606"/>
            <a:ext cx="3129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36B41-23D5-0B07-1DF8-4243347DA5C7}"/>
              </a:ext>
            </a:extLst>
          </p:cNvPr>
          <p:cNvSpPr txBox="1"/>
          <p:nvPr/>
        </p:nvSpPr>
        <p:spPr>
          <a:xfrm>
            <a:off x="10116831" y="3450716"/>
            <a:ext cx="5646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9B331-0998-9B8B-55E4-BE3DCEEEE231}"/>
              </a:ext>
            </a:extLst>
          </p:cNvPr>
          <p:cNvSpPr txBox="1"/>
          <p:nvPr/>
        </p:nvSpPr>
        <p:spPr>
          <a:xfrm>
            <a:off x="10066907" y="3979371"/>
            <a:ext cx="4676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38725"/>
            <a:ext cx="9525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800100" y="5229225"/>
            <a:ext cx="91059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Вывод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Проект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обладает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запасом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прочности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инвестиционно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привлекателен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среднесрочной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перспективе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Анализ чувствительности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94219C-9E66-197F-6E2D-89F88E16D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472" y="1057275"/>
            <a:ext cx="7645528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/>
        </p:nvSpPr>
        <p:spPr>
          <a:xfrm>
            <a:off x="2095500" y="813494"/>
            <a:ext cx="8001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0" b="1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Заключение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5619750" y="2042219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2286000" y="2366069"/>
            <a:ext cx="7620000" cy="200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Бизнес-план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малого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предприятия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обоснован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Доказана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экономическая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целесообразность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проекта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при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горизонте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планирования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5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лет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Разработанная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в Project Expert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модель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готова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привлечения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реального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финансирования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ED27273-B235-3972-36D7-A348F61F4B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38" y="5632416"/>
            <a:ext cx="909702" cy="1017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611</Words>
  <Application>Microsoft Office PowerPoint</Application>
  <PresentationFormat>Широкоэкранный</PresentationFormat>
  <Paragraphs>99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Calibri</vt:lpstr>
      <vt:lpstr>DM Sans</vt:lpstr>
      <vt:lpstr>DM Sans Medium</vt:lpstr>
      <vt:lpstr>Merriweather</vt:lpstr>
      <vt:lpstr>Tahoma</vt:lpstr>
      <vt:lpstr>Times New Roman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ZhiGor サスケ君</dc:creator>
  <cp:lastModifiedBy>ZhiGor サスケ君</cp:lastModifiedBy>
  <cp:revision>5</cp:revision>
  <dcterms:created xsi:type="dcterms:W3CDTF">2026-06-08T14:29:50Z</dcterms:created>
  <dcterms:modified xsi:type="dcterms:W3CDTF">2026-06-08T15:42:44Z</dcterms:modified>
</cp:coreProperties>
</file>